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65" r:id="rId6"/>
    <p:sldId id="266" r:id="rId7"/>
    <p:sldId id="267" r:id="rId8"/>
    <p:sldId id="269" r:id="rId9"/>
    <p:sldId id="270" r:id="rId10"/>
    <p:sldId id="271" r:id="rId11"/>
    <p:sldId id="272" r:id="rId12"/>
    <p:sldId id="273" r:id="rId13"/>
    <p:sldId id="274" r:id="rId14"/>
  </p:sldIdLst>
  <p:sldSz cx="12192000" cy="6858000"/>
  <p:notesSz cx="6858000" cy="9144000"/>
  <p:defaultTextStyle>
    <a:defPPr rtl="0"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403" autoAdjust="0"/>
    <p:restoredTop sz="94660"/>
  </p:normalViewPr>
  <p:slideViewPr>
    <p:cSldViewPr>
      <p:cViewPr varScale="1">
        <p:scale>
          <a:sx n="105" d="100"/>
          <a:sy n="105" d="100"/>
        </p:scale>
        <p:origin x="92" y="180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8" d="100"/>
          <a:sy n="88" d="100"/>
        </p:scale>
        <p:origin x="382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pt-PT" dirty="0"/>
          </a:p>
        </p:txBody>
      </p:sp>
      <p:sp>
        <p:nvSpPr>
          <p:cNvPr id="3" name="Marcador de Posição de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C90CC1E7-60D7-4F85-A361-48AACBF15237}" type="datetime1">
              <a:rPr lang="pt-PT" smtClean="0"/>
              <a:pPr algn="r" rtl="0"/>
              <a:t>12/02/2025</a:t>
            </a:fld>
            <a:endParaRPr lang="pt-PT" dirty="0"/>
          </a:p>
        </p:txBody>
      </p:sp>
      <p:sp>
        <p:nvSpPr>
          <p:cNvPr id="4" name="Marcador de Posição de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pt-PT" dirty="0"/>
          </a:p>
        </p:txBody>
      </p:sp>
      <p:sp>
        <p:nvSpPr>
          <p:cNvPr id="5" name="Marcador de Posição de Número do Diapositivo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45ACAF8E-318A-4EFE-8633-D9E72ABCE0ED}" type="slidenum">
              <a:rPr lang="pt-PT" smtClean="0"/>
              <a:pPr algn="r" rtl="0"/>
              <a:t>‹nº›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406559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pt-PT" noProof="0" dirty="0"/>
          </a:p>
        </p:txBody>
      </p:sp>
      <p:sp>
        <p:nvSpPr>
          <p:cNvPr id="3" name="Marcador de Posição de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fld id="{F8848868-58D5-4418-BE5F-81C952B08646}" type="datetime1">
              <a:rPr lang="pt-PT" smtClean="0"/>
              <a:pPr/>
              <a:t>12/02/2025</a:t>
            </a:fld>
            <a:endParaRPr lang="pt-PT" dirty="0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PT" noProof="0" dirty="0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 dirty="0"/>
              <a:t>Clique para editar os estilos</a:t>
            </a:r>
          </a:p>
          <a:p>
            <a:pPr lvl="1" rtl="0"/>
            <a:r>
              <a:rPr lang="pt-PT" noProof="0" dirty="0"/>
              <a:t>Segundo nível</a:t>
            </a:r>
          </a:p>
          <a:p>
            <a:pPr lvl="2" rtl="0"/>
            <a:r>
              <a:rPr lang="pt-PT" noProof="0" dirty="0"/>
              <a:t>Terceiro nível</a:t>
            </a:r>
          </a:p>
          <a:p>
            <a:pPr lvl="3" rtl="0"/>
            <a:r>
              <a:rPr lang="pt-PT" noProof="0" dirty="0"/>
              <a:t>Quarto nível</a:t>
            </a:r>
          </a:p>
          <a:p>
            <a:pPr lvl="4" rtl="0"/>
            <a:r>
              <a:rPr lang="pt-PT" noProof="0" dirty="0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pt-PT" noProof="0" dirty="0"/>
          </a:p>
        </p:txBody>
      </p:sp>
      <p:sp>
        <p:nvSpPr>
          <p:cNvPr id="7" name="Marcador de Posição de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/>
            </a:lvl1pPr>
          </a:lstStyle>
          <a:p>
            <a:fld id="{5EE2CF44-2B13-41B4-A334-1CDF534EEBBF}" type="slidenum">
              <a:rPr lang="pt-PT" smtClean="0"/>
              <a:pPr/>
              <a:t>‹nº›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45385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E2CF44-2B13-41B4-A334-1CDF534EEBBF}" type="slidenum">
              <a:rPr lang="pt-PT" smtClean="0"/>
              <a:pPr/>
              <a:t>1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450414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 userDrawn="1"/>
        </p:nvSpPr>
        <p:spPr bwMode="gray">
          <a:xfrm>
            <a:off x="0" y="2825016"/>
            <a:ext cx="12188952" cy="3180930"/>
          </a:xfrm>
          <a:prstGeom prst="rect">
            <a:avLst/>
          </a:prstGeom>
          <a:solidFill>
            <a:schemeClr val="bg1">
              <a:lumMod val="85000"/>
              <a:lumOff val="1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PT" noProof="0" dirty="0"/>
          </a:p>
        </p:txBody>
      </p:sp>
      <p:sp>
        <p:nvSpPr>
          <p:cNvPr id="7" name="Retângulo 6"/>
          <p:cNvSpPr/>
          <p:nvPr userDrawn="1"/>
        </p:nvSpPr>
        <p:spPr bwMode="black">
          <a:xfrm>
            <a:off x="0" y="3075709"/>
            <a:ext cx="12188952" cy="2639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PT" noProof="0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 bwMode="white">
          <a:xfrm>
            <a:off x="1066800" y="3165763"/>
            <a:ext cx="10058400" cy="1711037"/>
          </a:xfrm>
        </p:spPr>
        <p:txBody>
          <a:bodyPr rtlCol="0" anchor="b">
            <a:normAutofit/>
          </a:bodyPr>
          <a:lstStyle>
            <a:lvl1pPr algn="l" rtl="0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pPr rtl="0"/>
            <a:r>
              <a:rPr lang="pt-PT" noProof="0"/>
              <a:t>Clique para editar o estilo de título do Modelo Global</a:t>
            </a:r>
            <a:endParaRPr lang="pt-PT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 bwMode="white">
          <a:xfrm>
            <a:off x="1066800" y="4953000"/>
            <a:ext cx="10058400" cy="6858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pt-PT" noProof="0"/>
              <a:t>Clique para editar o estilo de subtítulo do Modelo Global</a:t>
            </a:r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PT" noProof="0"/>
              <a:t>Clique para editar o estilo de título do Modelo Global</a:t>
            </a:r>
            <a:endParaRPr lang="pt-PT" noProof="0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 algn="l" rtl="0">
              <a:defRPr/>
            </a:lvl5pPr>
          </a:lstStyle>
          <a:p>
            <a:pPr lvl="0" rtl="0"/>
            <a:r>
              <a:rPr lang="pt-PT" noProof="0"/>
              <a:t>Clique para editar os estilos do texto de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  <a:endParaRPr lang="pt-PT" noProof="0" dirty="0"/>
          </a:p>
        </p:txBody>
      </p:sp>
      <p:sp>
        <p:nvSpPr>
          <p:cNvPr id="4" name="Marcador de Posição de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10AF4E36-1EE9-419B-BEA9-B0B6543A8485}" type="datetime1">
              <a:rPr lang="pt-PT" noProof="0" smtClean="0"/>
              <a:pPr/>
              <a:t>12/02/2025</a:t>
            </a:fld>
            <a:endParaRPr lang="pt-PT" noProof="0" dirty="0"/>
          </a:p>
        </p:txBody>
      </p:sp>
      <p:sp>
        <p:nvSpPr>
          <p:cNvPr id="5" name="Marcador de Posição de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PT" noProof="0" dirty="0"/>
          </a:p>
        </p:txBody>
      </p:sp>
      <p:sp>
        <p:nvSpPr>
          <p:cNvPr id="6" name="Marcador de Posição de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pt-PT" noProof="0" smtClean="0"/>
              <a:t>‹nº›</a:t>
            </a:fld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24000" y="1828800"/>
            <a:ext cx="9144000" cy="2743200"/>
          </a:xfrm>
        </p:spPr>
        <p:txBody>
          <a:bodyPr rtlCol="0" anchor="b">
            <a:normAutofit/>
          </a:bodyPr>
          <a:lstStyle>
            <a:lvl1pPr algn="l" rtl="0">
              <a:defRPr sz="5400">
                <a:solidFill>
                  <a:schemeClr val="tx1"/>
                </a:solidFill>
              </a:defRPr>
            </a:lvl1pPr>
          </a:lstStyle>
          <a:p>
            <a:pPr rtl="0"/>
            <a:r>
              <a:rPr lang="pt-PT" noProof="0"/>
              <a:t>Clique para editar o estilo de título do Modelo Global</a:t>
            </a:r>
            <a:endParaRPr lang="pt-PT" noProof="0" dirty="0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1524000" y="4589463"/>
            <a:ext cx="9144000" cy="1506537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 algn="l" rtl="0">
              <a:buNone/>
              <a:defRPr sz="2000"/>
            </a:lvl2pPr>
            <a:lvl3pPr marL="914400" indent="0" algn="l" rtl="0">
              <a:buNone/>
              <a:defRPr sz="1800"/>
            </a:lvl3pPr>
            <a:lvl4pPr marL="1371600" indent="0" algn="l" rtl="0">
              <a:buNone/>
              <a:defRPr sz="1600"/>
            </a:lvl4pPr>
            <a:lvl5pPr marL="1828800" indent="0" algn="l" rtl="0">
              <a:buNone/>
              <a:defRPr sz="1600"/>
            </a:lvl5pPr>
            <a:lvl6pPr marL="2286000" indent="0" algn="l" rtl="0">
              <a:buNone/>
              <a:defRPr sz="1600"/>
            </a:lvl6pPr>
            <a:lvl7pPr marL="2743200" indent="0" algn="l" rtl="0">
              <a:buNone/>
              <a:defRPr sz="1600"/>
            </a:lvl7pPr>
            <a:lvl8pPr marL="3200400" indent="0" algn="l" rtl="0">
              <a:buNone/>
              <a:defRPr sz="1600"/>
            </a:lvl8pPr>
            <a:lvl9pPr marL="3657600" indent="0" algn="l" rtl="0">
              <a:buNone/>
              <a:defRPr sz="1600"/>
            </a:lvl9pPr>
          </a:lstStyle>
          <a:p>
            <a:pPr lvl="0" rtl="0"/>
            <a:r>
              <a:rPr lang="pt-PT" noProof="0"/>
              <a:t>Clique para editar os estilos do texto de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PT" noProof="0"/>
              <a:t>Clique para editar o estilo de título do Modelo Global</a:t>
            </a:r>
            <a:endParaRPr lang="pt-PT" noProof="0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1524000" y="1825625"/>
            <a:ext cx="4343400" cy="4270375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8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pt-PT" noProof="0"/>
              <a:t>Clique para editar os estilos do texto de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  <a:endParaRPr lang="pt-PT" noProof="0" dirty="0"/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6324600" y="1825625"/>
            <a:ext cx="4343400" cy="4270375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8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pt-PT" noProof="0"/>
              <a:t>Clique para editar os estilos do texto de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  <a:endParaRPr lang="pt-PT" noProof="0" dirty="0"/>
          </a:p>
        </p:txBody>
      </p:sp>
      <p:sp>
        <p:nvSpPr>
          <p:cNvPr id="5" name="Marcador de Posição de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B41FD58A-4BF8-46EB-B55A-B9BDE46EB413}" type="datetime1">
              <a:rPr lang="pt-PT" smtClean="0"/>
              <a:pPr/>
              <a:t>12/02/2025</a:t>
            </a:fld>
            <a:endParaRPr lang="pt-PT" dirty="0"/>
          </a:p>
        </p:txBody>
      </p:sp>
      <p:sp>
        <p:nvSpPr>
          <p:cNvPr id="6" name="Marcador de Posição de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PT" noProof="0" dirty="0"/>
          </a:p>
        </p:txBody>
      </p:sp>
      <p:sp>
        <p:nvSpPr>
          <p:cNvPr id="7" name="Marcador de Posição de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pt-PT" noProof="0" smtClean="0"/>
              <a:t>‹nº›</a:t>
            </a:fld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PT" noProof="0"/>
              <a:t>Clique para editar o estilo de título do Modelo Global</a:t>
            </a:r>
            <a:endParaRPr lang="pt-PT" noProof="0" dirty="0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1527048" y="1828800"/>
            <a:ext cx="4343400" cy="685800"/>
          </a:xfrm>
        </p:spPr>
        <p:txBody>
          <a:bodyPr rtlCol="0" anchor="ctr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pt-PT" noProof="0"/>
              <a:t>Clique para editar os estilos do texto de Modelo Global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1527048" y="2514600"/>
            <a:ext cx="4343400" cy="3581401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8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pt-PT" noProof="0"/>
              <a:t>Clique para editar os estilos do texto de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  <a:endParaRPr lang="pt-PT" noProof="0" dirty="0"/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>
          <a:xfrm>
            <a:off x="6327648" y="1828800"/>
            <a:ext cx="4343400" cy="685800"/>
          </a:xfrm>
        </p:spPr>
        <p:txBody>
          <a:bodyPr rtlCol="0" anchor="ctr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pt-PT" noProof="0"/>
              <a:t>Clique para editar os estilos do texto de Modelo Global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6327648" y="2514600"/>
            <a:ext cx="4343400" cy="3581401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8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pt-PT" noProof="0"/>
              <a:t>Clique para editar os estilos do texto de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  <a:endParaRPr lang="pt-PT" noProof="0" dirty="0"/>
          </a:p>
        </p:txBody>
      </p:sp>
      <p:sp>
        <p:nvSpPr>
          <p:cNvPr id="7" name="Marcador de Posição de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pt-PT" dirty="0"/>
              <a:t>​</a:t>
            </a:r>
            <a:fld id="{1089181C-15A1-447E-B98E-68D923D913B4}" type="datetime1">
              <a:rPr lang="pt-PT" smtClean="0"/>
              <a:pPr/>
              <a:t>12/02/2025</a:t>
            </a:fld>
            <a:r>
              <a:rPr lang="pt-PT" dirty="0"/>
              <a:t>​</a:t>
            </a:r>
          </a:p>
        </p:txBody>
      </p:sp>
      <p:sp>
        <p:nvSpPr>
          <p:cNvPr id="8" name="Marcador de Posição de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PT" noProof="0" dirty="0"/>
          </a:p>
        </p:txBody>
      </p:sp>
      <p:sp>
        <p:nvSpPr>
          <p:cNvPr id="9" name="Marcador de Posição de Número do Diapositivo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pt-PT" noProof="0" smtClean="0"/>
              <a:t>‹nº›</a:t>
            </a:fld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PT" noProof="0"/>
              <a:t>Clique para editar o estilo de título do Modelo Global</a:t>
            </a:r>
            <a:endParaRPr lang="pt-PT" noProof="0" dirty="0"/>
          </a:p>
        </p:txBody>
      </p:sp>
      <p:sp>
        <p:nvSpPr>
          <p:cNvPr id="3" name="Marcador de Posição de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538BC18B-5975-441B-8EB9-CA8932249F57}" type="datetime1">
              <a:rPr lang="pt-PT" smtClean="0"/>
              <a:pPr/>
              <a:t>12/02/2025</a:t>
            </a:fld>
            <a:endParaRPr lang="pt-PT" dirty="0"/>
          </a:p>
        </p:txBody>
      </p:sp>
      <p:sp>
        <p:nvSpPr>
          <p:cNvPr id="4" name="Marcador de Posição de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PT" noProof="0" dirty="0"/>
          </a:p>
        </p:txBody>
      </p:sp>
      <p:sp>
        <p:nvSpPr>
          <p:cNvPr id="5" name="Marcador de Posição de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pt-PT" noProof="0" smtClean="0"/>
              <a:t>‹nº›</a:t>
            </a:fld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e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BC62C0FA-4EBD-4E6F-B190-8514ADD61780}" type="datetime1">
              <a:rPr lang="pt-PT" smtClean="0"/>
              <a:pPr/>
              <a:t>12/02/2025</a:t>
            </a:fld>
            <a:endParaRPr lang="pt-PT" dirty="0"/>
          </a:p>
        </p:txBody>
      </p:sp>
      <p:sp>
        <p:nvSpPr>
          <p:cNvPr id="3" name="Marcador de Posição de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PT" noProof="0" dirty="0"/>
          </a:p>
        </p:txBody>
      </p:sp>
      <p:sp>
        <p:nvSpPr>
          <p:cNvPr id="4" name="Marcador de Posição de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pt-PT" noProof="0" smtClean="0"/>
              <a:t>‹nº›</a:t>
            </a:fld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002587" y="1600200"/>
            <a:ext cx="3122613" cy="1828800"/>
          </a:xfrm>
        </p:spPr>
        <p:txBody>
          <a:bodyPr rtlCol="0" anchor="b">
            <a:normAutofit/>
          </a:bodyPr>
          <a:lstStyle>
            <a:lvl1pPr algn="l" rtl="0">
              <a:defRPr sz="3400"/>
            </a:lvl1pPr>
          </a:lstStyle>
          <a:p>
            <a:pPr rtl="0"/>
            <a:r>
              <a:rPr lang="pt-PT" noProof="0"/>
              <a:t>Clique para editar o estilo de título do Modelo Global</a:t>
            </a:r>
            <a:endParaRPr lang="pt-PT" noProof="0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760412" y="762000"/>
            <a:ext cx="6400800" cy="5334000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8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pt-PT" noProof="0"/>
              <a:t>Clique para editar os estilos do texto de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  <a:endParaRPr lang="pt-PT" noProof="0" dirty="0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8001039" y="3429000"/>
            <a:ext cx="3124161" cy="1828800"/>
          </a:xfrm>
        </p:spPr>
        <p:txBody>
          <a:bodyPr rtlCol="0"/>
          <a:lstStyle>
            <a:lvl1pPr marL="0" indent="0" algn="l" rtl="0">
              <a:spcBef>
                <a:spcPts val="0"/>
              </a:spcBef>
              <a:buNone/>
              <a:defRPr sz="1600"/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pt-PT" noProof="0"/>
              <a:t>Clique para editar os estilos do texto de Modelo Global</a:t>
            </a:r>
          </a:p>
        </p:txBody>
      </p:sp>
      <p:sp>
        <p:nvSpPr>
          <p:cNvPr id="5" name="Marcador de Posição de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E0714599-97DD-4175-93E7-AF5F846A1676}" type="datetime1">
              <a:rPr lang="pt-PT" smtClean="0"/>
              <a:pPr/>
              <a:t>12/02/2025</a:t>
            </a:fld>
            <a:endParaRPr lang="pt-PT" dirty="0"/>
          </a:p>
        </p:txBody>
      </p:sp>
      <p:sp>
        <p:nvSpPr>
          <p:cNvPr id="6" name="Marcador de Posição de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PT" noProof="0" dirty="0"/>
          </a:p>
        </p:txBody>
      </p:sp>
      <p:sp>
        <p:nvSpPr>
          <p:cNvPr id="7" name="Marcador de Posição de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pt-PT" noProof="0" smtClean="0"/>
              <a:t>‹nº›</a:t>
            </a:fld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 userDrawn="1"/>
        </p:nvSpPr>
        <p:spPr bwMode="blackWhite">
          <a:xfrm>
            <a:off x="644091" y="640080"/>
            <a:ext cx="6675120" cy="5577840"/>
          </a:xfrm>
          <a:prstGeom prst="rect">
            <a:avLst/>
          </a:prstGeom>
          <a:solidFill>
            <a:srgbClr val="000000"/>
          </a:solidFill>
          <a:ln w="10160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PT" sz="1600" noProof="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997952" y="1600200"/>
            <a:ext cx="3127248" cy="1828800"/>
          </a:xfrm>
        </p:spPr>
        <p:txBody>
          <a:bodyPr rtlCol="0" anchor="b">
            <a:normAutofit/>
          </a:bodyPr>
          <a:lstStyle>
            <a:lvl1pPr algn="l" rtl="0">
              <a:defRPr sz="3400"/>
            </a:lvl1pPr>
          </a:lstStyle>
          <a:p>
            <a:pPr rtl="0"/>
            <a:r>
              <a:rPr lang="pt-PT" noProof="0"/>
              <a:t>Clique para editar o estilo de título do Modelo Global</a:t>
            </a:r>
            <a:endParaRPr lang="pt-PT" noProof="0" dirty="0"/>
          </a:p>
        </p:txBody>
      </p:sp>
      <p:sp>
        <p:nvSpPr>
          <p:cNvPr id="3" name="Marcador de Posição de Imagem 2"/>
          <p:cNvSpPr>
            <a:spLocks noGrp="1"/>
          </p:cNvSpPr>
          <p:nvPr>
            <p:ph type="pic" idx="1"/>
          </p:nvPr>
        </p:nvSpPr>
        <p:spPr>
          <a:xfrm>
            <a:off x="781251" y="777240"/>
            <a:ext cx="6400800" cy="5303520"/>
          </a:xfrm>
        </p:spPr>
        <p:txBody>
          <a:bodyPr tIns="457200" rtlCol="0">
            <a:normAutofit/>
          </a:bodyPr>
          <a:lstStyle>
            <a:lvl1pPr marL="0" indent="0" algn="ctr" rtl="0">
              <a:buNone/>
              <a:defRPr sz="2000"/>
            </a:lvl1pPr>
            <a:lvl2pPr marL="457200" indent="0" algn="l" rtl="0">
              <a:buNone/>
              <a:defRPr sz="2800"/>
            </a:lvl2pPr>
            <a:lvl3pPr marL="914400" indent="0" algn="l" rtl="0">
              <a:buNone/>
              <a:defRPr sz="2400"/>
            </a:lvl3pPr>
            <a:lvl4pPr marL="1371600" indent="0" algn="l" rtl="0">
              <a:buNone/>
              <a:defRPr sz="2000"/>
            </a:lvl4pPr>
            <a:lvl5pPr marL="1828800" indent="0" algn="l" rtl="0">
              <a:buNone/>
              <a:defRPr sz="2000"/>
            </a:lvl5pPr>
            <a:lvl6pPr marL="2286000" indent="0" algn="l" rtl="0">
              <a:buNone/>
              <a:defRPr sz="2000"/>
            </a:lvl6pPr>
            <a:lvl7pPr marL="2743200" indent="0" algn="l" rtl="0">
              <a:buNone/>
              <a:defRPr sz="2000"/>
            </a:lvl7pPr>
            <a:lvl8pPr marL="3200400" indent="0" algn="l" rtl="0">
              <a:buNone/>
              <a:defRPr sz="2000"/>
            </a:lvl8pPr>
            <a:lvl9pPr marL="3657600" indent="0" algn="l" rtl="0">
              <a:buNone/>
              <a:defRPr sz="2000"/>
            </a:lvl9pPr>
          </a:lstStyle>
          <a:p>
            <a:pPr rtl="0"/>
            <a:r>
              <a:rPr lang="pt-PT" noProof="0"/>
              <a:t>Clique no ícone para adicionar uma imagem</a:t>
            </a:r>
            <a:endParaRPr lang="pt-PT" noProof="0" dirty="0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7997952" y="3429000"/>
            <a:ext cx="3127248" cy="1828800"/>
          </a:xfrm>
        </p:spPr>
        <p:txBody>
          <a:bodyPr rtlCol="0"/>
          <a:lstStyle>
            <a:lvl1pPr marL="0" indent="0" algn="l" rtl="0">
              <a:spcBef>
                <a:spcPts val="0"/>
              </a:spcBef>
              <a:buNone/>
              <a:defRPr sz="1600"/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pt-PT" noProof="0"/>
              <a:t>Clique para editar os estilos do texto de Modelo Global</a:t>
            </a:r>
          </a:p>
        </p:txBody>
      </p:sp>
      <p:sp>
        <p:nvSpPr>
          <p:cNvPr id="5" name="Marcador de Posição de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F9D6A0C-67E3-4743-9342-C635587AC564}" type="datetime1">
              <a:rPr lang="pt-PT" smtClean="0"/>
              <a:pPr/>
              <a:t>12/02/2025</a:t>
            </a:fld>
            <a:endParaRPr lang="pt-PT" dirty="0"/>
          </a:p>
        </p:txBody>
      </p:sp>
      <p:sp>
        <p:nvSpPr>
          <p:cNvPr id="6" name="Marcador de Posição de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PT" noProof="0" dirty="0"/>
          </a:p>
        </p:txBody>
      </p:sp>
      <p:sp>
        <p:nvSpPr>
          <p:cNvPr id="7" name="Marcador de Posição de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pt-PT" noProof="0" smtClean="0"/>
              <a:t>‹nº›</a:t>
            </a:fld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PT" noProof="0"/>
              <a:t>Clique para editar o estilo de título do Modelo Global</a:t>
            </a:r>
            <a:endParaRPr lang="pt-PT" noProof="0" dirty="0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pt-PT" noProof="0"/>
              <a:t>Clique para editar os estilos do texto de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  <a:endParaRPr lang="pt-PT" noProof="0" dirty="0"/>
          </a:p>
        </p:txBody>
      </p:sp>
      <p:sp>
        <p:nvSpPr>
          <p:cNvPr id="4" name="Marcador de Posição de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D1D40A23-C135-42DD-9F15-1880183933E6}" type="datetime1">
              <a:rPr lang="pt-PT" smtClean="0"/>
              <a:pPr/>
              <a:t>12/02/2025</a:t>
            </a:fld>
            <a:endParaRPr lang="pt-PT" dirty="0"/>
          </a:p>
        </p:txBody>
      </p:sp>
      <p:sp>
        <p:nvSpPr>
          <p:cNvPr id="5" name="Marcador de Posição de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PT" noProof="0" dirty="0"/>
          </a:p>
        </p:txBody>
      </p:sp>
      <p:sp>
        <p:nvSpPr>
          <p:cNvPr id="6" name="Marcador de Posição de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pt-PT" noProof="0" smtClean="0"/>
              <a:t>‹nº›</a:t>
            </a:fld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457199"/>
            <a:ext cx="1943100" cy="5638801"/>
          </a:xfrm>
        </p:spPr>
        <p:txBody>
          <a:bodyPr vert="eaVert" rtlCol="0"/>
          <a:lstStyle/>
          <a:p>
            <a:pPr rtl="0"/>
            <a:r>
              <a:rPr lang="pt-PT" noProof="0"/>
              <a:t>Clique para editar o estilo de título do Modelo Global</a:t>
            </a:r>
            <a:endParaRPr lang="pt-PT" noProof="0" dirty="0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1524000" y="457199"/>
            <a:ext cx="7048500" cy="5638801"/>
          </a:xfrm>
        </p:spPr>
        <p:txBody>
          <a:bodyPr vert="eaVert" rtlCol="0"/>
          <a:lstStyle/>
          <a:p>
            <a:pPr lvl="0" rtl="0"/>
            <a:r>
              <a:rPr lang="pt-PT" noProof="0"/>
              <a:t>Clique para editar os estilos do texto de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  <a:endParaRPr lang="pt-PT" noProof="0" dirty="0"/>
          </a:p>
        </p:txBody>
      </p:sp>
      <p:sp>
        <p:nvSpPr>
          <p:cNvPr id="4" name="Marcador de Posição de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25F21CF-D487-4F72-8D99-4B4A2D98D922}" type="datetime1">
              <a:rPr lang="pt-PT" smtClean="0"/>
              <a:pPr/>
              <a:t>12/02/2025</a:t>
            </a:fld>
            <a:endParaRPr lang="pt-PT" dirty="0"/>
          </a:p>
        </p:txBody>
      </p:sp>
      <p:sp>
        <p:nvSpPr>
          <p:cNvPr id="5" name="Marcador de Posição de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PT" noProof="0" dirty="0"/>
          </a:p>
        </p:txBody>
      </p:sp>
      <p:sp>
        <p:nvSpPr>
          <p:cNvPr id="6" name="Marcador de Posição de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pt-PT" noProof="0" smtClean="0"/>
              <a:t>‹nº›</a:t>
            </a:fld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e Título 1"/>
          <p:cNvSpPr>
            <a:spLocks noGrp="1"/>
          </p:cNvSpPr>
          <p:nvPr>
            <p:ph type="title"/>
          </p:nvPr>
        </p:nvSpPr>
        <p:spPr>
          <a:xfrm>
            <a:off x="1524000" y="45720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PT" dirty="0"/>
              <a:t>Clique para editar o estilo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1524000" y="18288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 dirty="0"/>
              <a:t>Clique para editar os estilos</a:t>
            </a:r>
          </a:p>
          <a:p>
            <a:pPr lvl="1" rtl="0"/>
            <a:r>
              <a:rPr lang="pt-PT" noProof="0" dirty="0"/>
              <a:t>Segundo nível</a:t>
            </a:r>
          </a:p>
          <a:p>
            <a:pPr lvl="2" rtl="0"/>
            <a:r>
              <a:rPr lang="pt-PT" noProof="0" dirty="0"/>
              <a:t>Terceiro nível</a:t>
            </a:r>
          </a:p>
          <a:p>
            <a:pPr lvl="3" rtl="0"/>
            <a:r>
              <a:rPr lang="pt-PT" noProof="0" dirty="0"/>
              <a:t>Quarto nível</a:t>
            </a:r>
          </a:p>
          <a:p>
            <a:pPr lvl="4" rtl="0"/>
            <a:r>
              <a:rPr lang="pt-PT" noProof="0" dirty="0"/>
              <a:t>Quinto nível</a:t>
            </a:r>
          </a:p>
        </p:txBody>
      </p:sp>
      <p:sp>
        <p:nvSpPr>
          <p:cNvPr id="4" name="Marcador de Posição de Data 3"/>
          <p:cNvSpPr>
            <a:spLocks noGrp="1"/>
          </p:cNvSpPr>
          <p:nvPr>
            <p:ph type="dt" sz="half" idx="2"/>
          </p:nvPr>
        </p:nvSpPr>
        <p:spPr>
          <a:xfrm>
            <a:off x="8610600" y="6362700"/>
            <a:ext cx="9906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001C99D1-2144-47BD-90D3-3AF93A1DD9F5}" type="datetime1">
              <a:rPr lang="pt-PT" smtClean="0"/>
              <a:pPr/>
              <a:t>12/02/2025</a:t>
            </a:fld>
            <a:endParaRPr lang="pt-PT" dirty="0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1524000" y="6362700"/>
            <a:ext cx="6881553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pPr rtl="0"/>
            <a:endParaRPr lang="pt-PT" noProof="0" dirty="0"/>
          </a:p>
        </p:txBody>
      </p:sp>
      <p:sp>
        <p:nvSpPr>
          <p:cNvPr id="6" name="Marcador de Posição de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9829800" y="6362700"/>
            <a:ext cx="8382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E31375A4-56A4-47D6-9801-1991572033F7}" type="slidenum">
              <a:rPr lang="pt-PT" smtClean="0"/>
              <a:pPr/>
              <a:t>‹nº›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15087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3172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6060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pt-PT" dirty="0"/>
              <a:t>RABBITS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en-US" dirty="0"/>
              <a:t>A measurement toolkit for Reproducible Assessment of </a:t>
            </a:r>
            <a:r>
              <a:rPr lang="en-US" dirty="0" err="1"/>
              <a:t>BroadBand</a:t>
            </a:r>
            <a:r>
              <a:rPr lang="en-US" dirty="0"/>
              <a:t> Internet Topology and Speed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42453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PT" dirty="0"/>
              <a:t>Índice</a:t>
            </a:r>
          </a:p>
        </p:txBody>
      </p:sp>
      <p:sp>
        <p:nvSpPr>
          <p:cNvPr id="14" name="Marcador de Posição de Conteúdo 13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pt-PT" dirty="0"/>
              <a:t>Motivação;</a:t>
            </a:r>
          </a:p>
          <a:p>
            <a:pPr rtl="0"/>
            <a:r>
              <a:rPr lang="pt-PT" dirty="0"/>
              <a:t>Contextualização do projeto;</a:t>
            </a:r>
          </a:p>
          <a:p>
            <a:pPr rtl="0"/>
            <a:r>
              <a:rPr lang="pt-PT" dirty="0"/>
              <a:t>Objetivos;</a:t>
            </a:r>
          </a:p>
          <a:p>
            <a:pPr rtl="0"/>
            <a:r>
              <a:rPr lang="pt-PT" dirty="0"/>
              <a:t>Arquitetura;</a:t>
            </a:r>
          </a:p>
          <a:p>
            <a:pPr rtl="0"/>
            <a:r>
              <a:rPr lang="pt-PT" dirty="0"/>
              <a:t>Resultados;</a:t>
            </a:r>
          </a:p>
          <a:p>
            <a:pPr rtl="0"/>
            <a:r>
              <a:rPr lang="pt-PT" dirty="0"/>
              <a:t>Próximos passos;</a:t>
            </a:r>
          </a:p>
          <a:p>
            <a:pPr rtl="0"/>
            <a:r>
              <a:rPr lang="pt-PT" dirty="0"/>
              <a:t>Conclusão;</a:t>
            </a:r>
          </a:p>
        </p:txBody>
      </p:sp>
    </p:spTree>
    <p:extLst>
      <p:ext uri="{BB962C8B-B14F-4D97-AF65-F5344CB8AC3E}">
        <p14:creationId xmlns:p14="http://schemas.microsoft.com/office/powerpoint/2010/main" val="3042826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algn="ctr" rtl="0"/>
            <a:r>
              <a:rPr lang="pt-PT" dirty="0"/>
              <a:t>Plataformas suportadas</a:t>
            </a:r>
          </a:p>
        </p:txBody>
      </p:sp>
      <p:pic>
        <p:nvPicPr>
          <p:cNvPr id="6" name="Marcador de Posição de Conteúdo 5">
            <a:extLst>
              <a:ext uri="{FF2B5EF4-FFF2-40B4-BE49-F238E27FC236}">
                <a16:creationId xmlns:a16="http://schemas.microsoft.com/office/drawing/2014/main" id="{9AE3B5C5-6140-52C7-21C1-A4DE95A3CF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0" y="1846080"/>
            <a:ext cx="9144000" cy="4232640"/>
          </a:xfrm>
        </p:spPr>
      </p:pic>
    </p:spTree>
    <p:extLst>
      <p:ext uri="{BB962C8B-B14F-4D97-AF65-F5344CB8AC3E}">
        <p14:creationId xmlns:p14="http://schemas.microsoft.com/office/powerpoint/2010/main" val="2116190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algn="ctr" rtl="0"/>
            <a:r>
              <a:rPr lang="pt-PT" dirty="0"/>
              <a:t>Motivação para a criação do RABBITS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263352" y="2276872"/>
            <a:ext cx="7200800" cy="4270375"/>
          </a:xfrm>
        </p:spPr>
        <p:txBody>
          <a:bodyPr rtlCol="0"/>
          <a:lstStyle/>
          <a:p>
            <a:pPr rtl="0"/>
            <a:r>
              <a:rPr lang="pt-PT" dirty="0"/>
              <a:t>Distribuição desigual dos servidores de testes;</a:t>
            </a:r>
          </a:p>
          <a:p>
            <a:pPr rtl="0"/>
            <a:r>
              <a:rPr lang="pt-PT" dirty="0"/>
              <a:t>Critérios inconsistentes para a escolha de servidores;</a:t>
            </a:r>
          </a:p>
          <a:p>
            <a:pPr rtl="0"/>
            <a:r>
              <a:rPr lang="pt-PT" dirty="0"/>
              <a:t>Falta de padronização nos métodos de medição;</a:t>
            </a:r>
          </a:p>
          <a:p>
            <a:pPr rtl="0"/>
            <a:r>
              <a:rPr lang="pt-PT" dirty="0"/>
              <a:t>Imprecisão nas medições de velocidade e latência;</a:t>
            </a:r>
          </a:p>
        </p:txBody>
      </p:sp>
    </p:spTree>
    <p:extLst>
      <p:ext uri="{BB962C8B-B14F-4D97-AF65-F5344CB8AC3E}">
        <p14:creationId xmlns:p14="http://schemas.microsoft.com/office/powerpoint/2010/main" val="4145261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algn="ctr" rtl="0"/>
            <a:r>
              <a:rPr lang="pt-PT" dirty="0"/>
              <a:t>Contextualização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CA28E6CB-7E8D-CFA4-A9D3-1AE0E3D6B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1828800"/>
            <a:ext cx="9144000" cy="1600200"/>
          </a:xfrm>
        </p:spPr>
        <p:txBody>
          <a:bodyPr/>
          <a:lstStyle/>
          <a:p>
            <a:r>
              <a:rPr lang="pt-PT" dirty="0"/>
              <a:t>COVID-19  veio evidenciar as desigualdades no acesso à internet;</a:t>
            </a:r>
          </a:p>
          <a:p>
            <a:r>
              <a:rPr lang="pt-PT" dirty="0"/>
              <a:t>Abordagem sistemática para análise e padronização de testes de velocidade;</a:t>
            </a:r>
          </a:p>
          <a:p>
            <a:r>
              <a:rPr lang="pt-PT" dirty="0"/>
              <a:t>Tornam-se úteis para: </a:t>
            </a:r>
          </a:p>
        </p:txBody>
      </p:sp>
      <p:sp>
        <p:nvSpPr>
          <p:cNvPr id="6" name="Marcador de Posição de Conteúdo 3">
            <a:extLst>
              <a:ext uri="{FF2B5EF4-FFF2-40B4-BE49-F238E27FC236}">
                <a16:creationId xmlns:a16="http://schemas.microsoft.com/office/drawing/2014/main" id="{E086DE49-0622-F6AF-793A-D42D6F5EAAEE}"/>
              </a:ext>
            </a:extLst>
          </p:cNvPr>
          <p:cNvSpPr txBox="1">
            <a:spLocks/>
          </p:cNvSpPr>
          <p:nvPr/>
        </p:nvSpPr>
        <p:spPr>
          <a:xfrm>
            <a:off x="1919536" y="3429000"/>
            <a:ext cx="9144000" cy="19442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317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060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dirty="0"/>
              <a:t>Consumidores;</a:t>
            </a:r>
          </a:p>
          <a:p>
            <a:r>
              <a:rPr lang="pt-PT" dirty="0"/>
              <a:t>Reguladores;</a:t>
            </a:r>
          </a:p>
          <a:p>
            <a:r>
              <a:rPr lang="pt-PT" dirty="0"/>
              <a:t>Operadoras;</a:t>
            </a:r>
          </a:p>
          <a:p>
            <a:r>
              <a:rPr lang="pt-PT" dirty="0"/>
              <a:t>Pesquisadores;</a:t>
            </a:r>
          </a:p>
        </p:txBody>
      </p:sp>
    </p:spTree>
    <p:extLst>
      <p:ext uri="{BB962C8B-B14F-4D97-AF65-F5344CB8AC3E}">
        <p14:creationId xmlns:p14="http://schemas.microsoft.com/office/powerpoint/2010/main" val="1153027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24000" y="332656"/>
            <a:ext cx="9144000" cy="1506537"/>
          </a:xfrm>
        </p:spPr>
        <p:txBody>
          <a:bodyPr rtlCol="0"/>
          <a:lstStyle/>
          <a:p>
            <a:pPr algn="ctr" rtl="0"/>
            <a:r>
              <a:rPr lang="pt-PT" dirty="0">
                <a:solidFill>
                  <a:schemeClr val="accent1"/>
                </a:solidFill>
                <a:latin typeface="+mn-lt"/>
              </a:rPr>
              <a:t>Objetivo</a:t>
            </a:r>
          </a:p>
        </p:txBody>
      </p:sp>
      <p:sp>
        <p:nvSpPr>
          <p:cNvPr id="6" name="Marcador de Posição de Conteúdo 3">
            <a:extLst>
              <a:ext uri="{FF2B5EF4-FFF2-40B4-BE49-F238E27FC236}">
                <a16:creationId xmlns:a16="http://schemas.microsoft.com/office/drawing/2014/main" id="{8B79F77A-0DA7-06BB-CA4D-043AD61BA9AD}"/>
              </a:ext>
            </a:extLst>
          </p:cNvPr>
          <p:cNvSpPr txBox="1">
            <a:spLocks/>
          </p:cNvSpPr>
          <p:nvPr/>
        </p:nvSpPr>
        <p:spPr>
          <a:xfrm>
            <a:off x="1524000" y="2780928"/>
            <a:ext cx="9144000" cy="19442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317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060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b="1" i="0" u="none" strike="noStrike" dirty="0">
                <a:solidFill>
                  <a:schemeClr val="tx1"/>
                </a:solidFill>
                <a:effectLst/>
              </a:rPr>
              <a:t>Mapear e caracterizar a infraestrutura de servidores de teste de velocidade;</a:t>
            </a:r>
          </a:p>
          <a:p>
            <a:r>
              <a:rPr lang="pt-PT" b="1" i="0" u="none" strike="noStrike" dirty="0">
                <a:solidFill>
                  <a:schemeClr val="tx1"/>
                </a:solidFill>
                <a:effectLst/>
              </a:rPr>
              <a:t>Padronizar os parâmetros dos testes;</a:t>
            </a:r>
          </a:p>
          <a:p>
            <a:r>
              <a:rPr lang="pt-PT" b="1" dirty="0">
                <a:solidFill>
                  <a:schemeClr val="tx1"/>
                </a:solidFill>
              </a:rPr>
              <a:t>Fornecer ferramentas para controlo dos testes;</a:t>
            </a:r>
          </a:p>
          <a:p>
            <a:r>
              <a:rPr lang="pt-PT" b="1" dirty="0">
                <a:solidFill>
                  <a:schemeClr val="tx1"/>
                </a:solidFill>
              </a:rPr>
              <a:t>Facilitar o acesso e análise de dados;</a:t>
            </a:r>
            <a:endParaRPr lang="pt-PT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4435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algn="ctr" rtl="0"/>
            <a:r>
              <a:rPr lang="pt-PT" sz="5400" dirty="0">
                <a:latin typeface="+mn-lt"/>
              </a:rPr>
              <a:t>Arquitetura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pt-PT" dirty="0"/>
              <a:t>RABBITS-</a:t>
            </a:r>
            <a:r>
              <a:rPr lang="pt-PT" dirty="0" err="1"/>
              <a:t>Mapper</a:t>
            </a:r>
            <a:endParaRPr lang="pt-PT" dirty="0"/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/>
        <p:txBody>
          <a:bodyPr rtlCol="0"/>
          <a:lstStyle/>
          <a:p>
            <a:pPr rtl="0"/>
            <a:r>
              <a:rPr lang="pt-PT" dirty="0" err="1"/>
              <a:t>CAIDA’s</a:t>
            </a:r>
            <a:r>
              <a:rPr lang="pt-PT" dirty="0"/>
              <a:t> </a:t>
            </a:r>
            <a:r>
              <a:rPr lang="pt-PT" dirty="0" err="1"/>
              <a:t>Ark</a:t>
            </a:r>
            <a:r>
              <a:rPr lang="pt-PT" dirty="0"/>
              <a:t>;</a:t>
            </a:r>
          </a:p>
          <a:p>
            <a:pPr rtl="0"/>
            <a:r>
              <a:rPr lang="pt-PT" dirty="0"/>
              <a:t>RIPE Atlas;</a:t>
            </a:r>
          </a:p>
          <a:p>
            <a:pPr rtl="0"/>
            <a:r>
              <a:rPr lang="pt-PT" dirty="0" err="1"/>
              <a:t>EdgeNet</a:t>
            </a:r>
            <a:r>
              <a:rPr lang="pt-PT" dirty="0"/>
              <a:t>;</a:t>
            </a:r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/>
        <p:txBody>
          <a:bodyPr rtlCol="0"/>
          <a:lstStyle/>
          <a:p>
            <a:pPr rtl="0"/>
            <a:r>
              <a:rPr lang="pt-PT" dirty="0"/>
              <a:t>RABBITS-</a:t>
            </a:r>
            <a:r>
              <a:rPr lang="pt-PT" dirty="0" err="1"/>
              <a:t>Perf</a:t>
            </a:r>
            <a:endParaRPr lang="pt-PT" dirty="0"/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/>
        <p:txBody>
          <a:bodyPr rtlCol="0"/>
          <a:lstStyle/>
          <a:p>
            <a:pPr rtl="0"/>
            <a:r>
              <a:rPr lang="pt-PT" dirty="0"/>
              <a:t>Números de conexões simultâneas utlizadas no teste;</a:t>
            </a:r>
          </a:p>
          <a:p>
            <a:pPr rtl="0"/>
            <a:r>
              <a:rPr lang="pt-PT" dirty="0"/>
              <a:t>Tamanho de pacotes enviados;</a:t>
            </a:r>
          </a:p>
          <a:p>
            <a:pPr rtl="0"/>
            <a:r>
              <a:rPr lang="pt-PT" dirty="0"/>
              <a:t>Escolha de servidor de teste;</a:t>
            </a:r>
          </a:p>
        </p:txBody>
      </p:sp>
    </p:spTree>
    <p:extLst>
      <p:ext uri="{BB962C8B-B14F-4D97-AF65-F5344CB8AC3E}">
        <p14:creationId xmlns:p14="http://schemas.microsoft.com/office/powerpoint/2010/main" val="1475842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27048" y="44624"/>
            <a:ext cx="9144000" cy="1143000"/>
          </a:xfrm>
        </p:spPr>
        <p:txBody>
          <a:bodyPr rtlCol="0"/>
          <a:lstStyle/>
          <a:p>
            <a:pPr algn="ctr" rtl="0"/>
            <a:r>
              <a:rPr lang="pt-PT" dirty="0"/>
              <a:t>Resultados</a:t>
            </a:r>
          </a:p>
        </p:txBody>
      </p:sp>
      <p:sp>
        <p:nvSpPr>
          <p:cNvPr id="3" name="Marcador de Posição de Conteúdo 3">
            <a:extLst>
              <a:ext uri="{FF2B5EF4-FFF2-40B4-BE49-F238E27FC236}">
                <a16:creationId xmlns:a16="http://schemas.microsoft.com/office/drawing/2014/main" id="{FBCC15F6-74CE-AB25-CCC1-9BD136180574}"/>
              </a:ext>
            </a:extLst>
          </p:cNvPr>
          <p:cNvSpPr txBox="1">
            <a:spLocks/>
          </p:cNvSpPr>
          <p:nvPr/>
        </p:nvSpPr>
        <p:spPr>
          <a:xfrm>
            <a:off x="1527048" y="2060848"/>
            <a:ext cx="9753528" cy="1778496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317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060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dirty="0"/>
              <a:t>A escolha do servidor afeta os resultados dos testes de velocidade;</a:t>
            </a:r>
          </a:p>
          <a:p>
            <a:r>
              <a:rPr lang="pt-PT" b="0" i="0" u="none" strike="noStrike" dirty="0">
                <a:solidFill>
                  <a:schemeClr val="tx1"/>
                </a:solidFill>
                <a:effectLst/>
              </a:rPr>
              <a:t>A latência pode ser distorcida por políticas de roteamento das operadoras;</a:t>
            </a:r>
          </a:p>
          <a:p>
            <a:r>
              <a:rPr lang="pt-PT" dirty="0">
                <a:solidFill>
                  <a:schemeClr val="tx1"/>
                </a:solidFill>
              </a:rPr>
              <a:t>A falta de padronização nos parâmetros de testes afeta a confiabilidade dos resultados;</a:t>
            </a:r>
          </a:p>
          <a:p>
            <a:endParaRPr lang="pt-PT" dirty="0">
              <a:solidFill>
                <a:schemeClr val="tx1"/>
              </a:solidFill>
            </a:endParaRP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CD4B7355-A32A-6AAA-3CC1-22C7A883D4D4}"/>
              </a:ext>
            </a:extLst>
          </p:cNvPr>
          <p:cNvSpPr txBox="1">
            <a:spLocks/>
          </p:cNvSpPr>
          <p:nvPr/>
        </p:nvSpPr>
        <p:spPr>
          <a:xfrm>
            <a:off x="1527048" y="4066220"/>
            <a:ext cx="9753528" cy="360040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317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060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dirty="0">
                <a:solidFill>
                  <a:schemeClr val="tx1"/>
                </a:solidFill>
              </a:rPr>
              <a:t>Com a implementação completa do RABBITS:</a:t>
            </a:r>
          </a:p>
        </p:txBody>
      </p:sp>
      <p:sp>
        <p:nvSpPr>
          <p:cNvPr id="5" name="Marcador de Posição de Conteúdo 3">
            <a:extLst>
              <a:ext uri="{FF2B5EF4-FFF2-40B4-BE49-F238E27FC236}">
                <a16:creationId xmlns:a16="http://schemas.microsoft.com/office/drawing/2014/main" id="{3505BCBF-E6EF-5764-B38F-F7B8D4CD7D4F}"/>
              </a:ext>
            </a:extLst>
          </p:cNvPr>
          <p:cNvSpPr txBox="1">
            <a:spLocks/>
          </p:cNvSpPr>
          <p:nvPr/>
        </p:nvSpPr>
        <p:spPr>
          <a:xfrm>
            <a:off x="1775520" y="4648369"/>
            <a:ext cx="9753528" cy="1778496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317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060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dirty="0">
                <a:solidFill>
                  <a:schemeClr val="tx1"/>
                </a:solidFill>
              </a:rPr>
              <a:t>Base de dados mais completa;</a:t>
            </a:r>
          </a:p>
          <a:p>
            <a:r>
              <a:rPr lang="pt-PT" dirty="0">
                <a:solidFill>
                  <a:schemeClr val="tx1"/>
                </a:solidFill>
              </a:rPr>
              <a:t>Metodologia padronizada;</a:t>
            </a:r>
          </a:p>
          <a:p>
            <a:r>
              <a:rPr lang="pt-PT" dirty="0">
                <a:solidFill>
                  <a:schemeClr val="tx1"/>
                </a:solidFill>
              </a:rPr>
              <a:t>Ferramentas acessíveis;</a:t>
            </a:r>
          </a:p>
        </p:txBody>
      </p:sp>
      <p:sp>
        <p:nvSpPr>
          <p:cNvPr id="6" name="Marcador de Posição de Conteúdo 3">
            <a:extLst>
              <a:ext uri="{FF2B5EF4-FFF2-40B4-BE49-F238E27FC236}">
                <a16:creationId xmlns:a16="http://schemas.microsoft.com/office/drawing/2014/main" id="{5F12A315-D0F3-B3DE-8E37-00DCE077C6D7}"/>
              </a:ext>
            </a:extLst>
          </p:cNvPr>
          <p:cNvSpPr txBox="1">
            <a:spLocks/>
          </p:cNvSpPr>
          <p:nvPr/>
        </p:nvSpPr>
        <p:spPr>
          <a:xfrm>
            <a:off x="1775520" y="4653136"/>
            <a:ext cx="9753528" cy="1778496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317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060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PT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988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F8735F5-63D0-2049-7641-432C5E21E94A}"/>
              </a:ext>
            </a:extLst>
          </p:cNvPr>
          <p:cNvSpPr txBox="1"/>
          <p:nvPr/>
        </p:nvSpPr>
        <p:spPr>
          <a:xfrm>
            <a:off x="2135560" y="273422"/>
            <a:ext cx="82089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5400" dirty="0">
                <a:solidFill>
                  <a:schemeClr val="accent1"/>
                </a:solidFill>
              </a:rPr>
              <a:t>Próximos Passos</a:t>
            </a:r>
          </a:p>
        </p:txBody>
      </p:sp>
      <p:sp>
        <p:nvSpPr>
          <p:cNvPr id="3" name="Marcador de Posição de Conteúdo 3">
            <a:extLst>
              <a:ext uri="{FF2B5EF4-FFF2-40B4-BE49-F238E27FC236}">
                <a16:creationId xmlns:a16="http://schemas.microsoft.com/office/drawing/2014/main" id="{135E2787-6722-5B2B-8B53-9F5C3CA978AB}"/>
              </a:ext>
            </a:extLst>
          </p:cNvPr>
          <p:cNvSpPr txBox="1">
            <a:spLocks/>
          </p:cNvSpPr>
          <p:nvPr/>
        </p:nvSpPr>
        <p:spPr>
          <a:xfrm>
            <a:off x="1219236" y="1772816"/>
            <a:ext cx="9753528" cy="2304256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317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060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dirty="0">
                <a:solidFill>
                  <a:schemeClr val="tx1"/>
                </a:solidFill>
              </a:rPr>
              <a:t>Finalizar e otimizar os módulos RABBITS-</a:t>
            </a:r>
            <a:r>
              <a:rPr lang="pt-PT" dirty="0" err="1">
                <a:solidFill>
                  <a:schemeClr val="tx1"/>
                </a:solidFill>
              </a:rPr>
              <a:t>Mapper</a:t>
            </a:r>
            <a:r>
              <a:rPr lang="pt-PT" dirty="0">
                <a:solidFill>
                  <a:schemeClr val="tx1"/>
                </a:solidFill>
              </a:rPr>
              <a:t> e RABBITS-</a:t>
            </a:r>
            <a:r>
              <a:rPr lang="pt-PT" dirty="0" err="1">
                <a:solidFill>
                  <a:schemeClr val="tx1"/>
                </a:solidFill>
              </a:rPr>
              <a:t>Perf</a:t>
            </a:r>
            <a:r>
              <a:rPr lang="pt-PT" dirty="0">
                <a:solidFill>
                  <a:schemeClr val="tx1"/>
                </a:solidFill>
              </a:rPr>
              <a:t>;</a:t>
            </a:r>
          </a:p>
          <a:p>
            <a:r>
              <a:rPr lang="pt-PT" dirty="0">
                <a:solidFill>
                  <a:schemeClr val="tx1"/>
                </a:solidFill>
              </a:rPr>
              <a:t>Publicar os dados coletados;</a:t>
            </a:r>
          </a:p>
          <a:p>
            <a:r>
              <a:rPr lang="pt-PT" dirty="0">
                <a:solidFill>
                  <a:schemeClr val="tx1"/>
                </a:solidFill>
              </a:rPr>
              <a:t>Expandir a cobertura para inclusão de redes móveis;</a:t>
            </a:r>
          </a:p>
          <a:p>
            <a:r>
              <a:rPr lang="pt-PT" dirty="0">
                <a:solidFill>
                  <a:schemeClr val="tx1"/>
                </a:solidFill>
              </a:rPr>
              <a:t>Colaborar com reguladores e operadoras;</a:t>
            </a:r>
          </a:p>
        </p:txBody>
      </p:sp>
    </p:spTree>
    <p:extLst>
      <p:ext uri="{BB962C8B-B14F-4D97-AF65-F5344CB8AC3E}">
        <p14:creationId xmlns:p14="http://schemas.microsoft.com/office/powerpoint/2010/main" val="3661180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59696" y="459668"/>
            <a:ext cx="5521747" cy="604664"/>
          </a:xfrm>
        </p:spPr>
        <p:txBody>
          <a:bodyPr rtlCol="0"/>
          <a:lstStyle/>
          <a:p>
            <a:pPr algn="ctr" rtl="0"/>
            <a:r>
              <a:rPr lang="pt-PT" dirty="0"/>
              <a:t>Conclusão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1508559" y="1600200"/>
            <a:ext cx="9224020" cy="4827240"/>
          </a:xfrm>
        </p:spPr>
        <p:txBody>
          <a:bodyPr rtlCol="0"/>
          <a:lstStyle/>
          <a:p>
            <a:pPr rtl="0"/>
            <a:r>
              <a:rPr lang="pt-PT" dirty="0"/>
              <a:t>Garantir que as medições de velocidade reflitam o desempenho real da Internet;</a:t>
            </a:r>
          </a:p>
          <a:p>
            <a:pPr rtl="0"/>
            <a:r>
              <a:rPr lang="pt-PT" dirty="0"/>
              <a:t>Apoiar políticas públicas para melhorar a conectividade e a inclusão digital;</a:t>
            </a:r>
          </a:p>
          <a:p>
            <a:pPr rtl="0"/>
            <a:r>
              <a:rPr lang="pt-PT" dirty="0"/>
              <a:t>Ajudar operadoras a identificar e corrigir problemas na infraestrutura de rede;</a:t>
            </a:r>
          </a:p>
        </p:txBody>
      </p:sp>
    </p:spTree>
    <p:extLst>
      <p:ext uri="{BB962C8B-B14F-4D97-AF65-F5344CB8AC3E}">
        <p14:creationId xmlns:p14="http://schemas.microsoft.com/office/powerpoint/2010/main" val="3232560146"/>
      </p:ext>
    </p:extLst>
  </p:cSld>
  <p:clrMapOvr>
    <a:masterClrMapping/>
  </p:clrMapOvr>
</p:sld>
</file>

<file path=ppt/theme/theme1.xml><?xml version="1.0" encoding="utf-8"?>
<a:theme xmlns:a="http://schemas.openxmlformats.org/drawingml/2006/main" name="Tecnologia – Informática 16x9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9411777_TF02901026_TF02901026" id="{7DCE7B74-34A2-4D97-A651-E678C260EF0E}" vid="{F246B498-3683-4AC3-9E09-940A53558F56}"/>
    </a:ext>
  </a:extLst>
</a:theme>
</file>

<file path=ppt/theme/theme2.xml><?xml version="1.0" encoding="utf-8"?>
<a:theme xmlns:a="http://schemas.openxmlformats.org/drawingml/2006/main" name="Tema do Offic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true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1566889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 xsi:nil="true"/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2012-05-23T08:44:00+00:00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2029-01-01T08:00:00+00:00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TP102901017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836753</LocLastLocAttemptVersionLookup>
    <IsSearchable xmlns="4873beb7-5857-4685-be1f-d57550cc96cc">true</IsSearchable>
    <TemplateTemplateType xmlns="4873beb7-5857-4685-be1f-d57550cc96cc">PowerPoint Design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APAuthor xmlns="4873beb7-5857-4685-be1f-d57550cc96cc">
      <UserInfo>
        <DisplayName>REDMOND\v-anij</DisplayName>
        <AccountId>2469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15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LocMarketGroupTiers2 xmlns="4873beb7-5857-4685-be1f-d57550cc96c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0B5C6E15-39DC-470B-9445-F754B94580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4098515-0C12-46CF-BC7C-69B4A13CD5FA}">
  <ds:schemaRefs>
    <ds:schemaRef ds:uri="http://schemas.microsoft.com/office/2006/metadata/properties"/>
    <ds:schemaRef ds:uri="http://schemas.microsoft.com/office/infopath/2007/PartnerControls"/>
    <ds:schemaRef ds:uri="4873beb7-5857-4685-be1f-d57550cc96cc"/>
  </ds:schemaRefs>
</ds:datastoreItem>
</file>

<file path=customXml/itemProps3.xml><?xml version="1.0" encoding="utf-8"?>
<ds:datastoreItem xmlns:ds="http://schemas.openxmlformats.org/officeDocument/2006/customXml" ds:itemID="{746CFF6F-D9AA-4BC0-911A-0A135677191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empresarial tecnológica com design de circuito impresso (ecrã panorâmico)</Template>
  <TotalTime>0</TotalTime>
  <Words>296</Words>
  <Application>Microsoft Office PowerPoint</Application>
  <PresentationFormat>Ecrã Panorâmico</PresentationFormat>
  <Paragraphs>56</Paragraphs>
  <Slides>10</Slides>
  <Notes>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10</vt:i4>
      </vt:variant>
    </vt:vector>
  </HeadingPairs>
  <TitlesOfParts>
    <vt:vector size="14" baseType="lpstr">
      <vt:lpstr>Arial</vt:lpstr>
      <vt:lpstr>Candara</vt:lpstr>
      <vt:lpstr>Consolas</vt:lpstr>
      <vt:lpstr>Tecnologia – Informática 16x9</vt:lpstr>
      <vt:lpstr>RABBITS</vt:lpstr>
      <vt:lpstr>Índice</vt:lpstr>
      <vt:lpstr>Plataformas suportadas</vt:lpstr>
      <vt:lpstr>Motivação para a criação do RABBITS</vt:lpstr>
      <vt:lpstr>Contextualização</vt:lpstr>
      <vt:lpstr>Objetivo</vt:lpstr>
      <vt:lpstr>Arquitetura</vt:lpstr>
      <vt:lpstr>Resultados</vt:lpstr>
      <vt:lpstr>Apresentação do PowerPoint</vt:lpstr>
      <vt:lpstr>Conclusão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Tomás Furtado Botelho Machado</dc:creator>
  <cp:lastModifiedBy>Tomás Furtado Botelho Machado</cp:lastModifiedBy>
  <cp:revision>1</cp:revision>
  <dcterms:created xsi:type="dcterms:W3CDTF">2025-02-12T09:30:50Z</dcterms:created>
  <dcterms:modified xsi:type="dcterms:W3CDTF">2025-02-12T10:27:11Z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